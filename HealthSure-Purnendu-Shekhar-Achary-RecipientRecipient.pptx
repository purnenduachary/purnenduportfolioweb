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6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58685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Hospital Management System (HealthSure)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68736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Walkthrough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280190" y="47717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Purnendu Shekhar Achary – Intern (1806521)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3898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Module: Recipient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00789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535192"/>
            <a:ext cx="116008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Overview: Streamlining Healthcare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793790" y="261961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Hospital Management System (HMS) is a comprehensive digital solution designed to modernise and streamline hospital operations and healthcare workflows.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600569"/>
            <a:ext cx="6436400" cy="680442"/>
          </a:xfrm>
          <a:prstGeom prst="roundRect">
            <a:avLst>
              <a:gd name="adj" fmla="val 48002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909" y="3728085"/>
            <a:ext cx="340162" cy="425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0604" y="450782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Purpose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1020604" y="5015984"/>
            <a:ext cx="59827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enhance efficiency, reduce administrative burden, and improve the overall patient experience.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400211" y="3600569"/>
            <a:ext cx="6436400" cy="680442"/>
          </a:xfrm>
          <a:prstGeom prst="roundRect">
            <a:avLst>
              <a:gd name="adj" fmla="val 48002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8330" y="3728085"/>
            <a:ext cx="340162" cy="4252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27025" y="450782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Stakeholders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7627025" y="5015984"/>
            <a:ext cx="598277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to serve a diverse group including Patients, Doctors, Hospital Administrators, Insurers, and Pharmacists, ensuring a holistic approach to healthcare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960"/>
            <a:ext cx="1037748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Modules: A Modular Approach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5898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HMS is built on a foundation of interconnected modules, each handling specific functionalities to ensure seamless operations.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70803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57842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72213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722132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Doctor profiles, availability schedules, and specialisations.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22874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437245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598" y="4372451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Oversees system settings, user roles, and audit logs for security and compliance.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87906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502277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637598" y="5022771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 as the patient portal, facilitating insurance verification and provider search.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52938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567309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637598" y="5673090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policy details, plan management, and claims processing.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617970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632340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6323409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prescription fulfilment and inventory.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894284"/>
            <a:ext cx="1130677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Recipient Module: Patient-Centric Design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793790" y="29787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Recipient module empowers patients with direct access to essential healthcare information and services.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596759"/>
            <a:ext cx="226814" cy="283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3790" y="3951803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8" name="Text 4"/>
          <p:cNvSpPr/>
          <p:nvPr/>
        </p:nvSpPr>
        <p:spPr>
          <a:xfrm>
            <a:off x="793790" y="412611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Portal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93790" y="4634270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user-friendly interface enabling patients to manage their healthcare journey efficiently.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962" y="3596759"/>
            <a:ext cx="226814" cy="28348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216962" y="3951803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2" name="Text 7"/>
          <p:cNvSpPr/>
          <p:nvPr/>
        </p:nvSpPr>
        <p:spPr>
          <a:xfrm>
            <a:off x="5216962" y="412611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5216962" y="46342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comprehensive insurance details.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5216962" y="54393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for healthcare providers based on various criteria.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0133" y="3596759"/>
            <a:ext cx="226814" cy="28348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640133" y="3951803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1"/>
          <p:cNvSpPr/>
          <p:nvPr/>
        </p:nvSpPr>
        <p:spPr>
          <a:xfrm>
            <a:off x="9640133" y="412611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Principles</a:t>
            </a:r>
            <a:endParaRPr lang="en-US" sz="2300" dirty="0"/>
          </a:p>
        </p:txBody>
      </p:sp>
      <p:sp>
        <p:nvSpPr>
          <p:cNvPr id="18" name="Text 12"/>
          <p:cNvSpPr/>
          <p:nvPr/>
        </p:nvSpPr>
        <p:spPr>
          <a:xfrm>
            <a:off x="9640133" y="4634270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simplicity, accuracy, and secure access, ensuring patient data integrity and ease of use.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1575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801" y="850463"/>
            <a:ext cx="776239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My Contribution: Enhanced Recipient Features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90801" y="2441853"/>
            <a:ext cx="7762399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focus has been on developing and refining critical functionalities within the Recipient module, ensuring a robust and intuitive user experience.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0801" y="3295412"/>
            <a:ext cx="444103" cy="444103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7416" y="3323153"/>
            <a:ext cx="31087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32190" y="3359468"/>
            <a:ext cx="7121009" cy="94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/>
                <a:ea typeface="Inter" pitchFamily="34" charset="-122"/>
                <a:cs typeface="Inter" pitchFamily="34" charset="-120"/>
              </a:rPr>
              <a:t>View Insurance Details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an intuitive interface for viewing insurance details with search, filters, and a dedicated detail view page, ensuring smooth navigation, clear insights, and graceful error handling.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0800" y="4795137"/>
            <a:ext cx="444103" cy="444103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416" y="4850620"/>
            <a:ext cx="31087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332190" y="4769168"/>
            <a:ext cx="25908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Search for Providers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32190" y="5211366"/>
            <a:ext cx="7121009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advanced search capabilities allowing filtering by name, specialisation, and location, ensuring patients find the right care provider.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0801" y="6237565"/>
            <a:ext cx="444103" cy="444103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7416" y="6265307"/>
            <a:ext cx="31087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332190" y="6305312"/>
            <a:ext cx="343876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UI Logic &amp; Validations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32190" y="6747510"/>
            <a:ext cx="7121009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intelligent user interface logic and robust validation rules to guide users, prevent errors, and ensure data integrity.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96992" y="707469"/>
            <a:ext cx="7502843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Features: Recipient Module</a:t>
            </a:r>
            <a:endParaRPr lang="en-US" sz="4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92" y="1659612"/>
            <a:ext cx="6618208" cy="7966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6064" y="2655332"/>
            <a:ext cx="275617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View Insurance Details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896064" y="3101578"/>
            <a:ext cx="622006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a robust and user-focused insurance view module where recipients can: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96064" y="3858220"/>
            <a:ext cx="6220063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name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96064" y="4246483"/>
            <a:ext cx="6220063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status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96064" y="4634746"/>
            <a:ext cx="6220063" cy="955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filters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refine resultsIntegrated features like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sorting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pagination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validation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 a seamless user experience.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96064" y="5660231"/>
            <a:ext cx="622006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Handled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system-level failures gracefully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exception handling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96064" y="6367105"/>
            <a:ext cx="6220063" cy="955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built a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detail view page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provide recipients with a clear, at-a-glance summary of their selected insurance policy.</a:t>
            </a:r>
            <a:endParaRPr lang="en-US" sz="15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59612"/>
            <a:ext cx="6618208" cy="7966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14273" y="2655332"/>
            <a:ext cx="261401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Search for Providers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7514273" y="3101578"/>
            <a:ext cx="622006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an advanced, criteria-based doctor search allowing recipients to: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514273" y="3858220"/>
            <a:ext cx="622006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name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options for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Starts With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514273" y="4565094"/>
            <a:ext cx="622006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specialization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a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dynamically populated dropdown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(fetched from the database)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514273" y="5271968"/>
            <a:ext cx="622006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sorting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pagination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enterprise-grade validation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input safety.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514273" y="5978843"/>
            <a:ext cx="622006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exception handling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ensures reliability during system issues.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514273" y="6685717"/>
            <a:ext cx="622006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module is also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with appointment booking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enabling users to find and connect with providers seamlessly.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3876"/>
            <a:ext cx="1047035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UI Screens: Visualising the Experience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8176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illustrative examples of the user interface screens, showcasing the design and functionality implemented within the Recipient module. Actual screenshots will be presented during the live walkthrough.</a:t>
            </a:r>
            <a:endParaRPr lang="en-US" sz="17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4019489"/>
            <a:ext cx="5739789" cy="2803342"/>
          </a:xfrm>
          <a:prstGeom prst="rect">
            <a:avLst/>
          </a:prstGeom>
        </p:spPr>
      </p:pic>
      <p:pic>
        <p:nvPicPr>
          <p:cNvPr id="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05665" y="4022640"/>
            <a:ext cx="5104148" cy="2803341"/>
          </a:xfrm>
          <a:prstGeom prst="rect">
            <a:avLst/>
          </a:prstGeom>
        </p:spPr>
      </p:pic>
      <p:pic>
        <p:nvPicPr>
          <p:cNvPr id="6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22208" y="4025790"/>
            <a:ext cx="5408192" cy="2800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837560-7305-E75C-451D-28AEFC27938B}"/>
              </a:ext>
            </a:extLst>
          </p:cNvPr>
          <p:cNvSpPr txBox="1"/>
          <p:nvPr/>
        </p:nvSpPr>
        <p:spPr>
          <a:xfrm>
            <a:off x="1127903" y="7183403"/>
            <a:ext cx="34839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Health Sure Insurance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AC2FC-FA81-2A99-E4CA-99244ED870CD}"/>
              </a:ext>
            </a:extLst>
          </p:cNvPr>
          <p:cNvSpPr txBox="1"/>
          <p:nvPr/>
        </p:nvSpPr>
        <p:spPr>
          <a:xfrm>
            <a:off x="6028968" y="7183402"/>
            <a:ext cx="34839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View Details Page Insurance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3C550B-C035-E167-9EE7-5A603C18E733}"/>
              </a:ext>
            </a:extLst>
          </p:cNvPr>
          <p:cNvSpPr txBox="1"/>
          <p:nvPr/>
        </p:nvSpPr>
        <p:spPr>
          <a:xfrm>
            <a:off x="10613985" y="7183401"/>
            <a:ext cx="32226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Search providers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078" y="491133"/>
            <a:ext cx="10579298" cy="586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Architecture and Tech Stack: Robust Foundations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25078" y="1434346"/>
            <a:ext cx="133802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HMS is built on a layered architecture, ensuring maintainability, scalability, and a clear separation of concerns.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03770" y="1920954"/>
            <a:ext cx="22860" cy="5332690"/>
          </a:xfrm>
          <a:prstGeom prst="roundRect">
            <a:avLst>
              <a:gd name="adj" fmla="val 328146"/>
            </a:avLst>
          </a:prstGeom>
          <a:solidFill>
            <a:srgbClr val="B2D4E5"/>
          </a:solidFill>
          <a:ln/>
        </p:spPr>
      </p:sp>
      <p:sp>
        <p:nvSpPr>
          <p:cNvPr id="5" name="Shape 3"/>
          <p:cNvSpPr/>
          <p:nvPr/>
        </p:nvSpPr>
        <p:spPr>
          <a:xfrm>
            <a:off x="6601361" y="2110383"/>
            <a:ext cx="535781" cy="22860"/>
          </a:xfrm>
          <a:prstGeom prst="roundRect">
            <a:avLst>
              <a:gd name="adj" fmla="val 328146"/>
            </a:avLst>
          </a:prstGeom>
          <a:solidFill>
            <a:srgbClr val="B2D4E5"/>
          </a:solidFill>
          <a:ln/>
        </p:spPr>
      </p:sp>
      <p:sp>
        <p:nvSpPr>
          <p:cNvPr id="6" name="Shape 4"/>
          <p:cNvSpPr/>
          <p:nvPr/>
        </p:nvSpPr>
        <p:spPr>
          <a:xfrm>
            <a:off x="7114282" y="1920954"/>
            <a:ext cx="401836" cy="401836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28" y="1946017"/>
            <a:ext cx="281226" cy="351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78129" y="1982272"/>
            <a:ext cx="2344103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View Layer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5078" y="2382441"/>
            <a:ext cx="57971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JSF and JSP for dynamic and interactive user interfaces.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3258" y="3181945"/>
            <a:ext cx="535781" cy="22860"/>
          </a:xfrm>
          <a:prstGeom prst="roundRect">
            <a:avLst>
              <a:gd name="adj" fmla="val 328146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7114282" y="2992517"/>
            <a:ext cx="401836" cy="401836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528" y="3017580"/>
            <a:ext cx="281226" cy="351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08169" y="3053834"/>
            <a:ext cx="2344103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Controller Layer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08169" y="3454003"/>
            <a:ext cx="57971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user requests and orchestrates data flow between the view and business logic.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601361" y="4105513"/>
            <a:ext cx="535781" cy="22860"/>
          </a:xfrm>
          <a:prstGeom prst="roundRect">
            <a:avLst>
              <a:gd name="adj" fmla="val 328146"/>
            </a:avLst>
          </a:prstGeom>
          <a:solidFill>
            <a:srgbClr val="B2D4E5"/>
          </a:solidFill>
          <a:ln/>
        </p:spPr>
      </p:sp>
      <p:sp>
        <p:nvSpPr>
          <p:cNvPr id="16" name="Shape 12"/>
          <p:cNvSpPr/>
          <p:nvPr/>
        </p:nvSpPr>
        <p:spPr>
          <a:xfrm>
            <a:off x="7114282" y="3916085"/>
            <a:ext cx="401836" cy="401836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528" y="3941147"/>
            <a:ext cx="281226" cy="351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78129" y="3977402"/>
            <a:ext cx="2344103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DAO Layer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5078" y="4377571"/>
            <a:ext cx="57971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the contract for data operations, ensuring abstraction from persistence details.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493258" y="5029200"/>
            <a:ext cx="535781" cy="22860"/>
          </a:xfrm>
          <a:prstGeom prst="roundRect">
            <a:avLst>
              <a:gd name="adj" fmla="val 328146"/>
            </a:avLst>
          </a:prstGeom>
          <a:solidFill>
            <a:srgbClr val="B2D4E5"/>
          </a:solidFill>
          <a:ln/>
        </p:spPr>
      </p:sp>
      <p:sp>
        <p:nvSpPr>
          <p:cNvPr id="21" name="Shape 16"/>
          <p:cNvSpPr/>
          <p:nvPr/>
        </p:nvSpPr>
        <p:spPr>
          <a:xfrm>
            <a:off x="7114282" y="4839772"/>
            <a:ext cx="401836" cy="401836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4528" y="4864834"/>
            <a:ext cx="281226" cy="351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08169" y="4901089"/>
            <a:ext cx="2344103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DAOImpl Layer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208169" y="5301258"/>
            <a:ext cx="57971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concrete implementations of data access operations.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601361" y="5952887"/>
            <a:ext cx="535781" cy="22860"/>
          </a:xfrm>
          <a:prstGeom prst="roundRect">
            <a:avLst>
              <a:gd name="adj" fmla="val 328146"/>
            </a:avLst>
          </a:prstGeom>
          <a:solidFill>
            <a:srgbClr val="B2D4E5"/>
          </a:solidFill>
          <a:ln/>
        </p:spPr>
      </p:sp>
      <p:sp>
        <p:nvSpPr>
          <p:cNvPr id="26" name="Shape 20"/>
          <p:cNvSpPr/>
          <p:nvPr/>
        </p:nvSpPr>
        <p:spPr>
          <a:xfrm>
            <a:off x="7114282" y="5763458"/>
            <a:ext cx="401836" cy="401836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4528" y="5788521"/>
            <a:ext cx="281226" cy="351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78129" y="5824776"/>
            <a:ext cx="2344103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625078" y="6224945"/>
            <a:ext cx="57971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Utilises MySQL for reliable and efficient data storage.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25078" y="7454503"/>
            <a:ext cx="133802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Principles: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exceptions for robust error handling, and strict separation of concerns for modular development.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316" y="491252"/>
            <a:ext cx="8953976" cy="5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Core Technologies: A Visual Overview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25316" y="1434703"/>
            <a:ext cx="13379768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Hospital Management System leverages a robust and modern technology stack to ensure performance, reliability, and maintainability.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16" y="1921550"/>
            <a:ext cx="446603" cy="4466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316" y="2591395"/>
            <a:ext cx="2344936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Java 1.8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5316" y="2991683"/>
            <a:ext cx="6578203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programming language powering the backend logic and application foundation.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762" y="1921550"/>
            <a:ext cx="446603" cy="4466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6762" y="2591395"/>
            <a:ext cx="2344936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JSF 2.2 &amp; JSP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426762" y="2991683"/>
            <a:ext cx="657832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 used for building dynamic, interactive, and robust user interfaces.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16" y="4010025"/>
            <a:ext cx="446603" cy="4466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5316" y="4679871"/>
            <a:ext cx="2344936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Hibernate 3.6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25316" y="5080159"/>
            <a:ext cx="6578203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Object-Relational Mapping (ORM) framework for efficient and seamless database interaction (XML config).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6762" y="4010025"/>
            <a:ext cx="446603" cy="4466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6762" y="4679871"/>
            <a:ext cx="2344936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MySQL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7426762" y="5080159"/>
            <a:ext cx="657832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relational database management system chosen for reliable and scalable data storage.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316" y="6098500"/>
            <a:ext cx="446603" cy="44660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5316" y="6768346"/>
            <a:ext cx="2344936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Log4j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625316" y="7168634"/>
            <a:ext cx="6578203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logging framework for enabling robust debugging, auditing, and monitoring of application activities.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6762" y="6098500"/>
            <a:ext cx="446603" cy="44660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6762" y="6768346"/>
            <a:ext cx="3432572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Reliability &amp; Modularity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7426762" y="7168634"/>
            <a:ext cx="657832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through custom exceptions for precise error handling and strict separation of concerns for maintainable and scalable development.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0334"/>
            <a:ext cx="649128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Wrap-Up &amp; Code review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9182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We've explored the modular design of the Hospital Management System and delved into the specifics of the Recipient module, highlighting its user-centric design and the clean backend layering.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99178"/>
            <a:ext cx="4196358" cy="2610088"/>
          </a:xfrm>
          <a:prstGeom prst="roundRect">
            <a:avLst>
              <a:gd name="adj" fmla="val 365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413361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90" y="4282440"/>
            <a:ext cx="306110" cy="3826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50408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Modular Design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28224" y="554902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scalability and ease of maintenance.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899178"/>
            <a:ext cx="4196358" cy="2610088"/>
          </a:xfrm>
          <a:prstGeom prst="roundRect">
            <a:avLst>
              <a:gd name="adj" fmla="val 365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413361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62" y="4282440"/>
            <a:ext cx="306110" cy="382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50408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User-Centric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5451396" y="554902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Prioritises ease of use and patient experience.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899178"/>
            <a:ext cx="4196358" cy="2610088"/>
          </a:xfrm>
          <a:prstGeom prst="roundRect">
            <a:avLst>
              <a:gd name="adj" fmla="val 365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413361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734" y="4282440"/>
            <a:ext cx="306110" cy="3826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50408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Backend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9874568" y="554902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Promotes robust and efficient data handling.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4261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endParaRPr lang="en-US" sz="4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904</Words>
  <Application>Microsoft Office PowerPoint</Application>
  <PresentationFormat>Custom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Inter</vt:lpstr>
      <vt:lpstr>Arial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Purnendu Shekhar Achary</cp:lastModifiedBy>
  <cp:revision>3</cp:revision>
  <dcterms:created xsi:type="dcterms:W3CDTF">2025-08-06T19:18:53Z</dcterms:created>
  <dcterms:modified xsi:type="dcterms:W3CDTF">2025-08-11T03:26:33Z</dcterms:modified>
</cp:coreProperties>
</file>