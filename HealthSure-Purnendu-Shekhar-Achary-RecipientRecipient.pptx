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4630400" cy="8229600"/>
  <p:notesSz cx="8229600" cy="14630400"/>
  <p:embeddedFontLst>
    <p:embeddedFont>
      <p:font typeface="Inter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792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860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858685"/>
            <a:ext cx="7556421" cy="148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Hospital Management System (HealthSure)</a:t>
            </a:r>
            <a:endParaRPr lang="en-US" sz="4650" dirty="0"/>
          </a:p>
        </p:txBody>
      </p:sp>
      <p:sp>
        <p:nvSpPr>
          <p:cNvPr id="4" name="Text 1"/>
          <p:cNvSpPr/>
          <p:nvPr/>
        </p:nvSpPr>
        <p:spPr>
          <a:xfrm>
            <a:off x="6280190" y="3687366"/>
            <a:ext cx="5954197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Project Walkthrough</a:t>
            </a:r>
            <a:endParaRPr lang="en-US" sz="4650" dirty="0"/>
          </a:p>
        </p:txBody>
      </p:sp>
      <p:sp>
        <p:nvSpPr>
          <p:cNvPr id="5" name="Text 2"/>
          <p:cNvSpPr/>
          <p:nvPr/>
        </p:nvSpPr>
        <p:spPr>
          <a:xfrm>
            <a:off x="6280190" y="4771787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Presented by: Purnendu Shekhar Achary – Intern (1806521)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6280190" y="5389840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Module: Recipient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6280190" y="6007894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Date: </a:t>
            </a:r>
            <a:endParaRPr lang="en-US" sz="1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93790" y="1535192"/>
            <a:ext cx="11600855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Project Overview: Streamlining Healthcare</a:t>
            </a:r>
            <a:endParaRPr lang="en-US" sz="4650" dirty="0"/>
          </a:p>
        </p:txBody>
      </p:sp>
      <p:sp>
        <p:nvSpPr>
          <p:cNvPr id="5" name="Text 2"/>
          <p:cNvSpPr/>
          <p:nvPr/>
        </p:nvSpPr>
        <p:spPr>
          <a:xfrm>
            <a:off x="793790" y="2619613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Hospital Management System (HMS) is a comprehensive digital solution designed to modernise and streamline hospital operations and healthcare workflows.</a:t>
            </a:r>
            <a:endParaRPr lang="en-US" sz="1750" dirty="0"/>
          </a:p>
        </p:txBody>
      </p:sp>
      <p:sp>
        <p:nvSpPr>
          <p:cNvPr id="6" name="Shape 3"/>
          <p:cNvSpPr/>
          <p:nvPr/>
        </p:nvSpPr>
        <p:spPr>
          <a:xfrm>
            <a:off x="793790" y="3600569"/>
            <a:ext cx="6436400" cy="680442"/>
          </a:xfrm>
          <a:prstGeom prst="roundRect">
            <a:avLst>
              <a:gd name="adj" fmla="val 480029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1909" y="3728085"/>
            <a:ext cx="340162" cy="42529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20604" y="4507825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Core Purpose</a:t>
            </a:r>
            <a:endParaRPr lang="en-US" sz="2300" dirty="0"/>
          </a:p>
        </p:txBody>
      </p:sp>
      <p:sp>
        <p:nvSpPr>
          <p:cNvPr id="9" name="Text 5"/>
          <p:cNvSpPr/>
          <p:nvPr/>
        </p:nvSpPr>
        <p:spPr>
          <a:xfrm>
            <a:off x="1020604" y="5015984"/>
            <a:ext cx="5982772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enhance efficiency, reduce administrative burden, and improve the overall patient experience.</a:t>
            </a:r>
            <a:endParaRPr lang="en-US" sz="1750" dirty="0"/>
          </a:p>
        </p:txBody>
      </p:sp>
      <p:sp>
        <p:nvSpPr>
          <p:cNvPr id="10" name="Shape 6"/>
          <p:cNvSpPr/>
          <p:nvPr/>
        </p:nvSpPr>
        <p:spPr>
          <a:xfrm>
            <a:off x="7400211" y="3600569"/>
            <a:ext cx="6436400" cy="680442"/>
          </a:xfrm>
          <a:prstGeom prst="roundRect">
            <a:avLst>
              <a:gd name="adj" fmla="val 480029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8330" y="3728085"/>
            <a:ext cx="340162" cy="42529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627025" y="4507825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Key Stakeholders</a:t>
            </a:r>
            <a:endParaRPr lang="en-US" sz="2300" dirty="0"/>
          </a:p>
        </p:txBody>
      </p:sp>
      <p:sp>
        <p:nvSpPr>
          <p:cNvPr id="13" name="Text 8"/>
          <p:cNvSpPr/>
          <p:nvPr/>
        </p:nvSpPr>
        <p:spPr>
          <a:xfrm>
            <a:off x="7627025" y="5015984"/>
            <a:ext cx="5982772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Designed to serve a diverse group including Patients, Doctors, Hospital Administrators, Insurers, and Pharmacists, ensuring a holistic approach to healthcare management.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391960"/>
            <a:ext cx="10377487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System Modules: A Modular Approach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2589848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HMS is built on a foundation of interconnected modules, each handling specific functionalities to ensure seamless operations.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3570803"/>
            <a:ext cx="13042821" cy="3266837"/>
          </a:xfrm>
          <a:prstGeom prst="roundRect">
            <a:avLst>
              <a:gd name="adj" fmla="val 2916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1410" y="3578423"/>
            <a:ext cx="13027581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028343" y="3722132"/>
            <a:ext cx="214800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Providers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3637598" y="3722132"/>
            <a:ext cx="996457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Manages Doctor profiles, availability schedules, and specialisations.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801410" y="4228743"/>
            <a:ext cx="13027581" cy="6503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028343" y="4372451"/>
            <a:ext cx="214800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3637598" y="4372451"/>
            <a:ext cx="996457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Oversees system settings, user roles, and audit logs for security and compliance.</a:t>
            </a:r>
            <a:endParaRPr lang="en-US" sz="1750" dirty="0"/>
          </a:p>
        </p:txBody>
      </p:sp>
      <p:sp>
        <p:nvSpPr>
          <p:cNvPr id="11" name="Shape 9"/>
          <p:cNvSpPr/>
          <p:nvPr/>
        </p:nvSpPr>
        <p:spPr>
          <a:xfrm>
            <a:off x="801410" y="4879062"/>
            <a:ext cx="13027581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1028343" y="5022771"/>
            <a:ext cx="214800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Recipient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3637598" y="5022771"/>
            <a:ext cx="996457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Serves as the patient portal, facilitating insurance verification and provider search.</a:t>
            </a:r>
            <a:endParaRPr lang="en-US" sz="1750" dirty="0"/>
          </a:p>
        </p:txBody>
      </p:sp>
      <p:sp>
        <p:nvSpPr>
          <p:cNvPr id="14" name="Shape 12"/>
          <p:cNvSpPr/>
          <p:nvPr/>
        </p:nvSpPr>
        <p:spPr>
          <a:xfrm>
            <a:off x="801410" y="5529382"/>
            <a:ext cx="13027581" cy="6503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1028343" y="5673090"/>
            <a:ext cx="214800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Insurance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3637598" y="5673090"/>
            <a:ext cx="996457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Handles policy details, plan management, and claims processing.</a:t>
            </a:r>
            <a:endParaRPr lang="en-US" sz="1750" dirty="0"/>
          </a:p>
        </p:txBody>
      </p:sp>
      <p:sp>
        <p:nvSpPr>
          <p:cNvPr id="17" name="Shape 15"/>
          <p:cNvSpPr/>
          <p:nvPr/>
        </p:nvSpPr>
        <p:spPr>
          <a:xfrm>
            <a:off x="801410" y="6179701"/>
            <a:ext cx="13027581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1028343" y="6323409"/>
            <a:ext cx="214800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Pharmacy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3637598" y="6323409"/>
            <a:ext cx="996457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Manages prescription fulfilment and inventory.</a:t>
            </a:r>
            <a:endParaRPr lang="en-US" sz="1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93790" y="1894284"/>
            <a:ext cx="11306770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Recipient Module: Patient-Centric Design</a:t>
            </a:r>
            <a:endParaRPr lang="en-US" sz="4650" dirty="0"/>
          </a:p>
        </p:txBody>
      </p:sp>
      <p:sp>
        <p:nvSpPr>
          <p:cNvPr id="5" name="Text 2"/>
          <p:cNvSpPr/>
          <p:nvPr/>
        </p:nvSpPr>
        <p:spPr>
          <a:xfrm>
            <a:off x="793790" y="2978706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Recipient module empowers patients with direct access to essential healthcare information and services.</a:t>
            </a:r>
            <a:endParaRPr lang="en-US" sz="17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90" y="3596759"/>
            <a:ext cx="226814" cy="28348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93790" y="3951803"/>
            <a:ext cx="4196358" cy="30480"/>
          </a:xfrm>
          <a:prstGeom prst="rect">
            <a:avLst/>
          </a:prstGeom>
          <a:solidFill>
            <a:srgbClr val="007EBD"/>
          </a:solidFill>
          <a:ln/>
        </p:spPr>
      </p:sp>
      <p:sp>
        <p:nvSpPr>
          <p:cNvPr id="8" name="Text 4"/>
          <p:cNvSpPr/>
          <p:nvPr/>
        </p:nvSpPr>
        <p:spPr>
          <a:xfrm>
            <a:off x="793790" y="412611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Patient Portal</a:t>
            </a:r>
            <a:endParaRPr lang="en-US" sz="2300" dirty="0"/>
          </a:p>
        </p:txBody>
      </p:sp>
      <p:sp>
        <p:nvSpPr>
          <p:cNvPr id="9" name="Text 5"/>
          <p:cNvSpPr/>
          <p:nvPr/>
        </p:nvSpPr>
        <p:spPr>
          <a:xfrm>
            <a:off x="793790" y="4634270"/>
            <a:ext cx="4196358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user-friendly interface enabling patients to manage their healthcare journey efficiently.</a:t>
            </a:r>
            <a:endParaRPr lang="en-US" sz="17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6962" y="3596759"/>
            <a:ext cx="226814" cy="28348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5216962" y="3951803"/>
            <a:ext cx="4196358" cy="30480"/>
          </a:xfrm>
          <a:prstGeom prst="rect">
            <a:avLst/>
          </a:prstGeom>
          <a:solidFill>
            <a:srgbClr val="007EBD"/>
          </a:solidFill>
          <a:ln/>
        </p:spPr>
      </p:sp>
      <p:sp>
        <p:nvSpPr>
          <p:cNvPr id="12" name="Text 7"/>
          <p:cNvSpPr/>
          <p:nvPr/>
        </p:nvSpPr>
        <p:spPr>
          <a:xfrm>
            <a:off x="5216962" y="412611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Key Features</a:t>
            </a:r>
            <a:endParaRPr lang="en-US" sz="2300" dirty="0"/>
          </a:p>
        </p:txBody>
      </p:sp>
      <p:sp>
        <p:nvSpPr>
          <p:cNvPr id="13" name="Text 8"/>
          <p:cNvSpPr/>
          <p:nvPr/>
        </p:nvSpPr>
        <p:spPr>
          <a:xfrm>
            <a:off x="5216962" y="4634270"/>
            <a:ext cx="419635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View comprehensive insurance details.</a:t>
            </a:r>
            <a:endParaRPr lang="en-US" sz="1750" dirty="0"/>
          </a:p>
        </p:txBody>
      </p:sp>
      <p:sp>
        <p:nvSpPr>
          <p:cNvPr id="14" name="Text 9"/>
          <p:cNvSpPr/>
          <p:nvPr/>
        </p:nvSpPr>
        <p:spPr>
          <a:xfrm>
            <a:off x="5216962" y="5439370"/>
            <a:ext cx="419635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Search for healthcare providers based on various criteria.</a:t>
            </a:r>
            <a:endParaRPr lang="en-US" sz="175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0133" y="3596759"/>
            <a:ext cx="226814" cy="28348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9640133" y="3951803"/>
            <a:ext cx="4196358" cy="30480"/>
          </a:xfrm>
          <a:prstGeom prst="rect">
            <a:avLst/>
          </a:prstGeom>
          <a:solidFill>
            <a:srgbClr val="007EBD"/>
          </a:solidFill>
          <a:ln/>
        </p:spPr>
      </p:sp>
      <p:sp>
        <p:nvSpPr>
          <p:cNvPr id="17" name="Text 11"/>
          <p:cNvSpPr/>
          <p:nvPr/>
        </p:nvSpPr>
        <p:spPr>
          <a:xfrm>
            <a:off x="9640133" y="412611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Core Principles</a:t>
            </a:r>
            <a:endParaRPr lang="en-US" sz="2300" dirty="0"/>
          </a:p>
        </p:txBody>
      </p:sp>
      <p:sp>
        <p:nvSpPr>
          <p:cNvPr id="18" name="Text 12"/>
          <p:cNvSpPr/>
          <p:nvPr/>
        </p:nvSpPr>
        <p:spPr>
          <a:xfrm>
            <a:off x="9640133" y="4634270"/>
            <a:ext cx="4196358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Designed for simplicity, accuracy, and secure access, ensuring patient data integrity and ease of use.</a:t>
            </a:r>
            <a:endParaRPr lang="en-US" sz="1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1575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90801" y="850463"/>
            <a:ext cx="7762399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100"/>
              </a:lnSpc>
              <a:buNone/>
            </a:pPr>
            <a:r>
              <a:rPr lang="en-US" sz="40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My Contribution: Enhanced Recipient Features</a:t>
            </a:r>
            <a:endParaRPr lang="en-US" sz="4050" dirty="0"/>
          </a:p>
        </p:txBody>
      </p:sp>
      <p:sp>
        <p:nvSpPr>
          <p:cNvPr id="4" name="Text 1"/>
          <p:cNvSpPr/>
          <p:nvPr/>
        </p:nvSpPr>
        <p:spPr>
          <a:xfrm>
            <a:off x="690801" y="2441853"/>
            <a:ext cx="7762399" cy="631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 focus has been on developing and refining critical functionalities within the Recipient module, ensuring a robust and intuitive user experience.</a:t>
            </a:r>
            <a:endParaRPr lang="en-US" sz="1550" dirty="0"/>
          </a:p>
        </p:txBody>
      </p:sp>
      <p:sp>
        <p:nvSpPr>
          <p:cNvPr id="5" name="Shape 2"/>
          <p:cNvSpPr/>
          <p:nvPr/>
        </p:nvSpPr>
        <p:spPr>
          <a:xfrm>
            <a:off x="690801" y="3295412"/>
            <a:ext cx="444103" cy="444103"/>
          </a:xfrm>
          <a:prstGeom prst="roundRect">
            <a:avLst>
              <a:gd name="adj" fmla="val 18668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57416" y="3323153"/>
            <a:ext cx="310872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332190" y="3359468"/>
            <a:ext cx="7121009" cy="947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Petrona Bold"/>
                <a:ea typeface="Inter" pitchFamily="34" charset="-122"/>
                <a:cs typeface="Inter" pitchFamily="34" charset="-120"/>
              </a:rPr>
              <a:t>View Insurance Details</a:t>
            </a:r>
          </a:p>
          <a:p>
            <a:pPr marL="0" indent="0" algn="l">
              <a:lnSpc>
                <a:spcPts val="245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an intuitive interface for viewing insurance details with search, filters, and a dedicated detail view page, ensuring smooth navigation, clear insights, and graceful error handling.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90800" y="4795137"/>
            <a:ext cx="444103" cy="444103"/>
          </a:xfrm>
          <a:prstGeom prst="roundRect">
            <a:avLst>
              <a:gd name="adj" fmla="val 18668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7416" y="4850620"/>
            <a:ext cx="310872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1332190" y="4769168"/>
            <a:ext cx="25908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Search for Providers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332190" y="5211366"/>
            <a:ext cx="7121009" cy="631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Developed advanced search capabilities allowing filtering by name, specialisation, and location, ensuring patients find the right care provider.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690801" y="6237565"/>
            <a:ext cx="444103" cy="444103"/>
          </a:xfrm>
          <a:prstGeom prst="roundRect">
            <a:avLst>
              <a:gd name="adj" fmla="val 18668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7416" y="6265307"/>
            <a:ext cx="310872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332190" y="6305312"/>
            <a:ext cx="3438763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Smart UI Logic &amp; Validations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332190" y="6747510"/>
            <a:ext cx="7121009" cy="631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Integrated intelligent user interface logic and robust validation rules to guide users, prevent errors, and ensure data integrity.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96992" y="707469"/>
            <a:ext cx="7502843" cy="653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100"/>
              </a:lnSpc>
              <a:buNone/>
            </a:pPr>
            <a:r>
              <a:rPr lang="en-US" sz="41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Key Features: Recipient Module</a:t>
            </a:r>
            <a:endParaRPr lang="en-US" sz="41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992" y="1659612"/>
            <a:ext cx="6618208" cy="79664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96064" y="2655332"/>
            <a:ext cx="2756178" cy="3268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View Insurance Details</a:t>
            </a:r>
            <a:endParaRPr lang="en-US" sz="2050" dirty="0"/>
          </a:p>
        </p:txBody>
      </p:sp>
      <p:sp>
        <p:nvSpPr>
          <p:cNvPr id="7" name="Text 3"/>
          <p:cNvSpPr/>
          <p:nvPr/>
        </p:nvSpPr>
        <p:spPr>
          <a:xfrm>
            <a:off x="896064" y="3101578"/>
            <a:ext cx="6220063" cy="637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Developed a robust and user-focused insurance view module where recipients can:</a:t>
            </a:r>
            <a:endParaRPr lang="en-US" sz="1550" dirty="0"/>
          </a:p>
        </p:txBody>
      </p:sp>
      <p:sp>
        <p:nvSpPr>
          <p:cNvPr id="8" name="Text 4"/>
          <p:cNvSpPr/>
          <p:nvPr/>
        </p:nvSpPr>
        <p:spPr>
          <a:xfrm>
            <a:off x="896064" y="3858220"/>
            <a:ext cx="6220063" cy="318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Search by </a:t>
            </a:r>
            <a:r>
              <a:rPr lang="en-US" sz="15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name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896064" y="4246483"/>
            <a:ext cx="6220063" cy="318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</a:t>
            </a:r>
            <a:r>
              <a:rPr lang="en-US" sz="15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coverage status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</a:t>
            </a:r>
            <a:r>
              <a:rPr lang="en-US" sz="1550" i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550" i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550" i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Expired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896064" y="4634746"/>
            <a:ext cx="6220063" cy="955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</a:t>
            </a:r>
            <a:r>
              <a:rPr lang="en-US" sz="15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date filters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 refine resultsIntegrated features like </a:t>
            </a:r>
            <a:r>
              <a:rPr lang="en-US" sz="15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sorting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5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pagination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and </a:t>
            </a:r>
            <a:r>
              <a:rPr lang="en-US" sz="15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input validation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ensure a seamless user experience.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896064" y="5660231"/>
            <a:ext cx="6220063" cy="637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Handled </a:t>
            </a:r>
            <a:r>
              <a:rPr lang="en-US" sz="15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system-level failures gracefully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using </a:t>
            </a:r>
            <a:r>
              <a:rPr lang="en-US" sz="15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exception handling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896064" y="6367105"/>
            <a:ext cx="6220063" cy="955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built a </a:t>
            </a:r>
            <a:r>
              <a:rPr lang="en-US" sz="15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dedicated detail view page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 provide recipients with a clear, at-a-glance summary of their selected insurance policy.</a:t>
            </a:r>
            <a:endParaRPr lang="en-US" sz="155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659612"/>
            <a:ext cx="6618208" cy="79664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514273" y="2655332"/>
            <a:ext cx="2614017" cy="3268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Search for Providers</a:t>
            </a:r>
            <a:endParaRPr lang="en-US" sz="2050" dirty="0"/>
          </a:p>
        </p:txBody>
      </p:sp>
      <p:sp>
        <p:nvSpPr>
          <p:cNvPr id="15" name="Text 10"/>
          <p:cNvSpPr/>
          <p:nvPr/>
        </p:nvSpPr>
        <p:spPr>
          <a:xfrm>
            <a:off x="7514273" y="3101578"/>
            <a:ext cx="6220063" cy="637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Implemented an advanced, criteria-based doctor search allowing recipients to:</a:t>
            </a:r>
            <a:endParaRPr lang="en-US" sz="1550" dirty="0"/>
          </a:p>
        </p:txBody>
      </p:sp>
      <p:sp>
        <p:nvSpPr>
          <p:cNvPr id="16" name="Text 11"/>
          <p:cNvSpPr/>
          <p:nvPr/>
        </p:nvSpPr>
        <p:spPr>
          <a:xfrm>
            <a:off x="7514273" y="3858220"/>
            <a:ext cx="6220063" cy="637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Search by </a:t>
            </a:r>
            <a:r>
              <a:rPr lang="en-US" sz="15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doctor name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or </a:t>
            </a:r>
            <a:r>
              <a:rPr lang="en-US" sz="15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with options for </a:t>
            </a:r>
            <a:r>
              <a:rPr lang="en-US" sz="15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Starts With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or </a:t>
            </a:r>
            <a:r>
              <a:rPr lang="en-US" sz="15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Contains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7514273" y="4565094"/>
            <a:ext cx="6220063" cy="637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 </a:t>
            </a:r>
            <a:r>
              <a:rPr lang="en-US" sz="15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specialization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from a </a:t>
            </a:r>
            <a:r>
              <a:rPr lang="en-US" sz="15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dynamically populated dropdown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(fetched from the database)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7514273" y="5271968"/>
            <a:ext cx="6220063" cy="637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Supports </a:t>
            </a:r>
            <a:r>
              <a:rPr lang="en-US" sz="15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sorting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5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pagination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and </a:t>
            </a:r>
            <a:r>
              <a:rPr lang="en-US" sz="15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enterprise-grade validation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input safety.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7514273" y="5978843"/>
            <a:ext cx="6220063" cy="637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Built-in </a:t>
            </a:r>
            <a:r>
              <a:rPr lang="en-US" sz="15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exception handling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ensures reliability during system issues.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7514273" y="6685717"/>
            <a:ext cx="6220063" cy="637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module is also </a:t>
            </a:r>
            <a:r>
              <a:rPr lang="en-US" sz="15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integrated with appointment booking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enabling users to find and connect with providers seamlessly.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83876"/>
            <a:ext cx="10470356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UI Screens: Visualising the Experience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2681764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are illustrative examples of the user interface screens, showcasing the design and functionality implemented within the Recipient module. Actual screenshots will be presented during the live walkthrough.</a:t>
            </a:r>
            <a:endParaRPr lang="en-US" sz="17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410" y="3808690"/>
            <a:ext cx="4221599" cy="2721888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4460" y="3808690"/>
            <a:ext cx="4221599" cy="2721888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7510" y="3808690"/>
            <a:ext cx="4221599" cy="272188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5078" y="491133"/>
            <a:ext cx="10579298" cy="5860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00"/>
              </a:lnSpc>
              <a:buNone/>
            </a:pPr>
            <a:r>
              <a:rPr lang="en-US" sz="3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Architecture and Tech Stack: Robust Foundations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625078" y="1434346"/>
            <a:ext cx="1338024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HMS is built on a layered architecture, ensuring maintainability, scalability, and a clear separation of concerns.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03770" y="1920954"/>
            <a:ext cx="22860" cy="5332690"/>
          </a:xfrm>
          <a:prstGeom prst="roundRect">
            <a:avLst>
              <a:gd name="adj" fmla="val 328146"/>
            </a:avLst>
          </a:prstGeom>
          <a:solidFill>
            <a:srgbClr val="B2D4E5"/>
          </a:solidFill>
          <a:ln/>
        </p:spPr>
      </p:sp>
      <p:sp>
        <p:nvSpPr>
          <p:cNvPr id="5" name="Shape 3"/>
          <p:cNvSpPr/>
          <p:nvPr/>
        </p:nvSpPr>
        <p:spPr>
          <a:xfrm>
            <a:off x="6601361" y="2110383"/>
            <a:ext cx="535781" cy="22860"/>
          </a:xfrm>
          <a:prstGeom prst="roundRect">
            <a:avLst>
              <a:gd name="adj" fmla="val 328146"/>
            </a:avLst>
          </a:prstGeom>
          <a:solidFill>
            <a:srgbClr val="B2D4E5"/>
          </a:solidFill>
          <a:ln/>
        </p:spPr>
      </p:sp>
      <p:sp>
        <p:nvSpPr>
          <p:cNvPr id="6" name="Shape 4"/>
          <p:cNvSpPr/>
          <p:nvPr/>
        </p:nvSpPr>
        <p:spPr>
          <a:xfrm>
            <a:off x="7114282" y="1920954"/>
            <a:ext cx="401836" cy="401836"/>
          </a:xfrm>
          <a:prstGeom prst="roundRect">
            <a:avLst>
              <a:gd name="adj" fmla="val 18668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4528" y="1946017"/>
            <a:ext cx="281226" cy="35159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078129" y="1982272"/>
            <a:ext cx="2344103" cy="2930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View Layer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25078" y="2382441"/>
            <a:ext cx="579715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5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Leveraging JSF and JSP for dynamic and interactive user interfaces.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493258" y="3181945"/>
            <a:ext cx="535781" cy="22860"/>
          </a:xfrm>
          <a:prstGeom prst="roundRect">
            <a:avLst>
              <a:gd name="adj" fmla="val 328146"/>
            </a:avLst>
          </a:prstGeom>
          <a:solidFill>
            <a:srgbClr val="B2D4E5"/>
          </a:solidFill>
          <a:ln/>
        </p:spPr>
      </p:sp>
      <p:sp>
        <p:nvSpPr>
          <p:cNvPr id="11" name="Shape 8"/>
          <p:cNvSpPr/>
          <p:nvPr/>
        </p:nvSpPr>
        <p:spPr>
          <a:xfrm>
            <a:off x="7114282" y="2992517"/>
            <a:ext cx="401836" cy="401836"/>
          </a:xfrm>
          <a:prstGeom prst="roundRect">
            <a:avLst>
              <a:gd name="adj" fmla="val 18668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4528" y="3017580"/>
            <a:ext cx="281226" cy="35159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208169" y="3053834"/>
            <a:ext cx="2344103" cy="2930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Controller Layer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8208169" y="3454003"/>
            <a:ext cx="579715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Manages user requests and orchestrates data flow between the view and business logic.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601361" y="4105513"/>
            <a:ext cx="535781" cy="22860"/>
          </a:xfrm>
          <a:prstGeom prst="roundRect">
            <a:avLst>
              <a:gd name="adj" fmla="val 328146"/>
            </a:avLst>
          </a:prstGeom>
          <a:solidFill>
            <a:srgbClr val="B2D4E5"/>
          </a:solidFill>
          <a:ln/>
        </p:spPr>
      </p:sp>
      <p:sp>
        <p:nvSpPr>
          <p:cNvPr id="16" name="Shape 12"/>
          <p:cNvSpPr/>
          <p:nvPr/>
        </p:nvSpPr>
        <p:spPr>
          <a:xfrm>
            <a:off x="7114282" y="3916085"/>
            <a:ext cx="401836" cy="401836"/>
          </a:xfrm>
          <a:prstGeom prst="roundRect">
            <a:avLst>
              <a:gd name="adj" fmla="val 18668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4528" y="3941147"/>
            <a:ext cx="281226" cy="35159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078129" y="3977402"/>
            <a:ext cx="2344103" cy="2930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DAO Layer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625078" y="4377571"/>
            <a:ext cx="579715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25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Defines the contract for data operations, ensuring abstraction from persistence details.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7493258" y="5029200"/>
            <a:ext cx="535781" cy="22860"/>
          </a:xfrm>
          <a:prstGeom prst="roundRect">
            <a:avLst>
              <a:gd name="adj" fmla="val 328146"/>
            </a:avLst>
          </a:prstGeom>
          <a:solidFill>
            <a:srgbClr val="B2D4E5"/>
          </a:solidFill>
          <a:ln/>
        </p:spPr>
      </p:sp>
      <p:sp>
        <p:nvSpPr>
          <p:cNvPr id="21" name="Shape 16"/>
          <p:cNvSpPr/>
          <p:nvPr/>
        </p:nvSpPr>
        <p:spPr>
          <a:xfrm>
            <a:off x="7114282" y="4839772"/>
            <a:ext cx="401836" cy="401836"/>
          </a:xfrm>
          <a:prstGeom prst="roundRect">
            <a:avLst>
              <a:gd name="adj" fmla="val 18668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4528" y="4864834"/>
            <a:ext cx="281226" cy="35159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208169" y="4901089"/>
            <a:ext cx="2344103" cy="2930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DAOImpl Layer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8208169" y="5301258"/>
            <a:ext cx="579715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Provides concrete implementations of data access operations.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6601361" y="5952887"/>
            <a:ext cx="535781" cy="22860"/>
          </a:xfrm>
          <a:prstGeom prst="roundRect">
            <a:avLst>
              <a:gd name="adj" fmla="val 328146"/>
            </a:avLst>
          </a:prstGeom>
          <a:solidFill>
            <a:srgbClr val="B2D4E5"/>
          </a:solidFill>
          <a:ln/>
        </p:spPr>
      </p:sp>
      <p:sp>
        <p:nvSpPr>
          <p:cNvPr id="26" name="Shape 20"/>
          <p:cNvSpPr/>
          <p:nvPr/>
        </p:nvSpPr>
        <p:spPr>
          <a:xfrm>
            <a:off x="7114282" y="5763458"/>
            <a:ext cx="401836" cy="401836"/>
          </a:xfrm>
          <a:prstGeom prst="roundRect">
            <a:avLst>
              <a:gd name="adj" fmla="val 18668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4528" y="5788521"/>
            <a:ext cx="281226" cy="35159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078129" y="5824776"/>
            <a:ext cx="2344103" cy="2930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Database</a:t>
            </a:r>
            <a:endParaRPr lang="en-US" sz="1800" dirty="0"/>
          </a:p>
        </p:txBody>
      </p:sp>
      <p:sp>
        <p:nvSpPr>
          <p:cNvPr id="29" name="Text 22"/>
          <p:cNvSpPr/>
          <p:nvPr/>
        </p:nvSpPr>
        <p:spPr>
          <a:xfrm>
            <a:off x="625078" y="6224945"/>
            <a:ext cx="579715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5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Utilises MySQL for reliable and efficient data storage.</a:t>
            </a:r>
            <a:endParaRPr lang="en-US" sz="1400" dirty="0"/>
          </a:p>
        </p:txBody>
      </p:sp>
      <p:sp>
        <p:nvSpPr>
          <p:cNvPr id="30" name="Text 23"/>
          <p:cNvSpPr/>
          <p:nvPr/>
        </p:nvSpPr>
        <p:spPr>
          <a:xfrm>
            <a:off x="625078" y="7454503"/>
            <a:ext cx="1338024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Principles:</a:t>
            </a: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Custom exceptions for robust error handling, and strict separation of concerns for modular development.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5316" y="491252"/>
            <a:ext cx="8953976" cy="5861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00"/>
              </a:lnSpc>
              <a:buNone/>
            </a:pPr>
            <a:r>
              <a:rPr lang="en-US" sz="3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The Core Technologies: A Visual Overview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625316" y="1434703"/>
            <a:ext cx="13379768" cy="2858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Hospital Management System leverages a robust and modern technology stack to ensure performance, reliability, and maintainability.</a:t>
            </a:r>
            <a:endParaRPr lang="en-US" sz="1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316" y="1921550"/>
            <a:ext cx="446603" cy="44660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25316" y="2591395"/>
            <a:ext cx="2344936" cy="293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Java 1.8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25316" y="2991683"/>
            <a:ext cx="6578203" cy="571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primary programming language powering the backend logic and application foundation.</a:t>
            </a:r>
            <a:endParaRPr lang="en-US" sz="1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6762" y="1921550"/>
            <a:ext cx="446603" cy="44660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26762" y="2591395"/>
            <a:ext cx="2344936" cy="293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JSF 2.2 &amp; JSP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7426762" y="2991683"/>
            <a:ext cx="6578322" cy="571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Frameworks used for building dynamic, interactive, and robust user interfaces.</a:t>
            </a:r>
            <a:endParaRPr lang="en-US" sz="14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316" y="4010025"/>
            <a:ext cx="446603" cy="44660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25316" y="4679871"/>
            <a:ext cx="2344936" cy="293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Hibernate 3.6</a:t>
            </a:r>
            <a:endParaRPr lang="en-US" sz="1800" dirty="0"/>
          </a:p>
        </p:txBody>
      </p:sp>
      <p:sp>
        <p:nvSpPr>
          <p:cNvPr id="12" name="Text 7"/>
          <p:cNvSpPr/>
          <p:nvPr/>
        </p:nvSpPr>
        <p:spPr>
          <a:xfrm>
            <a:off x="625316" y="5080159"/>
            <a:ext cx="6578203" cy="571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Object-Relational Mapping (ORM) framework for efficient and seamless database interaction (XML config).</a:t>
            </a:r>
            <a:endParaRPr lang="en-US" sz="14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6762" y="4010025"/>
            <a:ext cx="446603" cy="446603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426762" y="4679871"/>
            <a:ext cx="2344936" cy="293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MySQL</a:t>
            </a:r>
            <a:endParaRPr lang="en-US" sz="1800" dirty="0"/>
          </a:p>
        </p:txBody>
      </p:sp>
      <p:sp>
        <p:nvSpPr>
          <p:cNvPr id="15" name="Text 9"/>
          <p:cNvSpPr/>
          <p:nvPr/>
        </p:nvSpPr>
        <p:spPr>
          <a:xfrm>
            <a:off x="7426762" y="5080159"/>
            <a:ext cx="6578322" cy="571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relational database management system chosen for reliable and scalable data storage.</a:t>
            </a:r>
            <a:endParaRPr lang="en-US" sz="14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316" y="6098500"/>
            <a:ext cx="446603" cy="446603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25316" y="6768346"/>
            <a:ext cx="2344936" cy="293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Log4j</a:t>
            </a:r>
            <a:endParaRPr lang="en-US" sz="1800" dirty="0"/>
          </a:p>
        </p:txBody>
      </p:sp>
      <p:sp>
        <p:nvSpPr>
          <p:cNvPr id="18" name="Text 11"/>
          <p:cNvSpPr/>
          <p:nvPr/>
        </p:nvSpPr>
        <p:spPr>
          <a:xfrm>
            <a:off x="625316" y="7168634"/>
            <a:ext cx="6578203" cy="571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logging framework for enabling robust debugging, auditing, and monitoring of application activities.</a:t>
            </a:r>
            <a:endParaRPr lang="en-US" sz="140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6762" y="6098500"/>
            <a:ext cx="446603" cy="446603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7426762" y="6768346"/>
            <a:ext cx="3432572" cy="293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System Reliability &amp; Modularity</a:t>
            </a:r>
            <a:endParaRPr lang="en-US" sz="1800" dirty="0"/>
          </a:p>
        </p:txBody>
      </p:sp>
      <p:sp>
        <p:nvSpPr>
          <p:cNvPr id="21" name="Text 13"/>
          <p:cNvSpPr/>
          <p:nvPr/>
        </p:nvSpPr>
        <p:spPr>
          <a:xfrm>
            <a:off x="7426762" y="7168634"/>
            <a:ext cx="6578322" cy="571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Achieved through custom exceptions for precise error handling and strict separation of concerns for maintainable and scalable development.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720334"/>
            <a:ext cx="6491288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Wrap-Up &amp; Code review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2918222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We've explored the modular design of the Hospital Management System and delved into the specifics of the Recipient module, highlighting its user-centric design and the clean backend layering.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3899178"/>
            <a:ext cx="4196358" cy="2610088"/>
          </a:xfrm>
          <a:prstGeom prst="roundRect">
            <a:avLst>
              <a:gd name="adj" fmla="val 3650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8224" y="4133612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007EB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5390" y="4282440"/>
            <a:ext cx="306110" cy="38266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28224" y="5040868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Modular Design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1028224" y="5549027"/>
            <a:ext cx="372749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Ensures scalability and ease of maintenance.</a:t>
            </a:r>
            <a:endParaRPr lang="en-US" sz="1750" dirty="0"/>
          </a:p>
        </p:txBody>
      </p:sp>
      <p:sp>
        <p:nvSpPr>
          <p:cNvPr id="9" name="Shape 6"/>
          <p:cNvSpPr/>
          <p:nvPr/>
        </p:nvSpPr>
        <p:spPr>
          <a:xfrm>
            <a:off x="5216962" y="3899178"/>
            <a:ext cx="4196358" cy="2610088"/>
          </a:xfrm>
          <a:prstGeom prst="roundRect">
            <a:avLst>
              <a:gd name="adj" fmla="val 3650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51396" y="4133612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007EBD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8562" y="4282440"/>
            <a:ext cx="306110" cy="38266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51396" y="5040868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User-Centric</a:t>
            </a:r>
            <a:endParaRPr lang="en-US" sz="2300" dirty="0"/>
          </a:p>
        </p:txBody>
      </p:sp>
      <p:sp>
        <p:nvSpPr>
          <p:cNvPr id="13" name="Text 9"/>
          <p:cNvSpPr/>
          <p:nvPr/>
        </p:nvSpPr>
        <p:spPr>
          <a:xfrm>
            <a:off x="5451396" y="5549027"/>
            <a:ext cx="372749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Prioritises ease of use and patient experience.</a:t>
            </a:r>
            <a:endParaRPr lang="en-US" sz="1750" dirty="0"/>
          </a:p>
        </p:txBody>
      </p:sp>
      <p:sp>
        <p:nvSpPr>
          <p:cNvPr id="14" name="Shape 10"/>
          <p:cNvSpPr/>
          <p:nvPr/>
        </p:nvSpPr>
        <p:spPr>
          <a:xfrm>
            <a:off x="9640133" y="3899178"/>
            <a:ext cx="4196358" cy="2610088"/>
          </a:xfrm>
          <a:prstGeom prst="roundRect">
            <a:avLst>
              <a:gd name="adj" fmla="val 3650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874568" y="4133612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007EBD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61734" y="4282440"/>
            <a:ext cx="306110" cy="3826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874568" y="5040868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Clean Backend</a:t>
            </a:r>
            <a:endParaRPr lang="en-US" sz="2300" dirty="0"/>
          </a:p>
        </p:txBody>
      </p:sp>
      <p:sp>
        <p:nvSpPr>
          <p:cNvPr id="18" name="Text 13"/>
          <p:cNvSpPr/>
          <p:nvPr/>
        </p:nvSpPr>
        <p:spPr>
          <a:xfrm>
            <a:off x="9874568" y="5549027"/>
            <a:ext cx="372749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Promotes robust and efficient data handling.</a:t>
            </a:r>
            <a:endParaRPr lang="en-US" sz="1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3742611"/>
            <a:ext cx="5954197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endParaRPr lang="en-US" sz="4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3742611"/>
            <a:ext cx="5954197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endParaRPr lang="en-US" sz="4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894</Words>
  <Application>Microsoft Office PowerPoint</Application>
  <PresentationFormat>Custom</PresentationFormat>
  <Paragraphs>107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Inter</vt:lpstr>
      <vt:lpstr>Arial</vt:lpstr>
      <vt:lpstr>Petrona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Purnendu Shekhar Achary</cp:lastModifiedBy>
  <cp:revision>2</cp:revision>
  <dcterms:created xsi:type="dcterms:W3CDTF">2025-08-06T19:18:53Z</dcterms:created>
  <dcterms:modified xsi:type="dcterms:W3CDTF">2025-08-06T19:23:29Z</dcterms:modified>
</cp:coreProperties>
</file>